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1887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114800"/>
            <a:ext cx="9144000" cy="10287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Text 2"/>
          <p:cNvSpPr/>
          <p:nvPr/>
        </p:nvSpPr>
        <p:spPr>
          <a:xfrm>
            <a:off x="274320" y="274320"/>
            <a:ext cx="85953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CENTRO DE MANUFACTURA TEXTIL Y CUERO – SENA  |  Bogotá D.C. 2026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1280160"/>
            <a:ext cx="8229600" cy="11887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400" b="1" spc="4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BRUMAM&amp;GOTXXO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457200" y="2560320"/>
            <a:ext cx="82296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Sistema Web con Visualización de Modelos 3D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 Selección de Tallas en Jeans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457200" y="420624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Estefanía Zea  ·  Marcela Hoyos  ·  Juan David Pérez  ·  Keiver Rumbo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57200" y="457200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Andrés Chávez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0F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 de la Presentación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365760" y="10972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10972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6" name="Text 4"/>
          <p:cNvSpPr/>
          <p:nvPr/>
        </p:nvSpPr>
        <p:spPr>
          <a:xfrm>
            <a:off x="365760" y="12618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960120" y="1143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Introducción y Contexto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960120" y="14996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Problema identificado en la industria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20116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20116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365760" y="2176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960120" y="2057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Planteamiento del Problema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960120" y="24140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Causas, impactos y solución propuesta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65760" y="2926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365760" y="29260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6" name="Text 14"/>
          <p:cNvSpPr/>
          <p:nvPr/>
        </p:nvSpPr>
        <p:spPr>
          <a:xfrm>
            <a:off x="365760" y="30906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60120" y="2971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 y Específicos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960120" y="33284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Metas del proyecto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65760" y="38404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38404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" y="40050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960120" y="3886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Viabilidad del Proyecto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960120" y="42428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Técnica, operativa y económica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10972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4754880" y="10972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6" name="Text 24"/>
          <p:cNvSpPr/>
          <p:nvPr/>
        </p:nvSpPr>
        <p:spPr>
          <a:xfrm>
            <a:off x="4754880" y="12618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5349240" y="11430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de Situación Actual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349240" y="14996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Procesos, stakeholders, requisitos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4754880" y="20116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20116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754880" y="21762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400" dirty="0"/>
          </a:p>
        </p:txBody>
      </p:sp>
      <p:sp>
        <p:nvSpPr>
          <p:cNvPr id="32" name="Text 30"/>
          <p:cNvSpPr/>
          <p:nvPr/>
        </p:nvSpPr>
        <p:spPr>
          <a:xfrm>
            <a:off x="5349240" y="20574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Diagramas y Arquitectura</a:t>
            </a:r>
            <a:endParaRPr lang="en-US" sz="1200" dirty="0"/>
          </a:p>
        </p:txBody>
      </p:sp>
      <p:sp>
        <p:nvSpPr>
          <p:cNvPr id="33" name="Text 31"/>
          <p:cNvSpPr/>
          <p:nvPr/>
        </p:nvSpPr>
        <p:spPr>
          <a:xfrm>
            <a:off x="5349240" y="24140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Clases, casos de uso, MER, flujos</a:t>
            </a:r>
            <a:endParaRPr lang="en-US" sz="900" dirty="0"/>
          </a:p>
        </p:txBody>
      </p:sp>
      <p:sp>
        <p:nvSpPr>
          <p:cNvPr id="34" name="Shape 32"/>
          <p:cNvSpPr/>
          <p:nvPr/>
        </p:nvSpPr>
        <p:spPr>
          <a:xfrm>
            <a:off x="4754880" y="29260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4754880" y="29260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6" name="Text 34"/>
          <p:cNvSpPr/>
          <p:nvPr/>
        </p:nvSpPr>
        <p:spPr>
          <a:xfrm>
            <a:off x="4754880" y="30906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400" dirty="0"/>
          </a:p>
        </p:txBody>
      </p:sp>
      <p:sp>
        <p:nvSpPr>
          <p:cNvPr id="37" name="Text 35"/>
          <p:cNvSpPr/>
          <p:nvPr/>
        </p:nvSpPr>
        <p:spPr>
          <a:xfrm>
            <a:off x="5349240" y="29718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Corporativa</a:t>
            </a:r>
            <a:endParaRPr lang="en-US" sz="1200" dirty="0"/>
          </a:p>
        </p:txBody>
      </p:sp>
      <p:sp>
        <p:nvSpPr>
          <p:cNvPr id="38" name="Text 36"/>
          <p:cNvSpPr/>
          <p:nvPr/>
        </p:nvSpPr>
        <p:spPr>
          <a:xfrm>
            <a:off x="5349240" y="33284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Marca, colores, tipografía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754880" y="3840480"/>
            <a:ext cx="4114800" cy="749808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754880" y="3840480"/>
            <a:ext cx="502920" cy="749808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1" name="Text 39"/>
          <p:cNvSpPr/>
          <p:nvPr/>
        </p:nvSpPr>
        <p:spPr>
          <a:xfrm>
            <a:off x="4754880" y="4005072"/>
            <a:ext cx="502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400" dirty="0"/>
          </a:p>
        </p:txBody>
      </p:sp>
      <p:sp>
        <p:nvSpPr>
          <p:cNvPr id="42" name="Text 40"/>
          <p:cNvSpPr/>
          <p:nvPr/>
        </p:nvSpPr>
        <p:spPr>
          <a:xfrm>
            <a:off x="5349240" y="3886200"/>
            <a:ext cx="3429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 SCRUM</a:t>
            </a:r>
            <a:endParaRPr lang="en-US" sz="1200" dirty="0"/>
          </a:p>
        </p:txBody>
      </p:sp>
      <p:sp>
        <p:nvSpPr>
          <p:cNvPr id="43" name="Text 41"/>
          <p:cNvSpPr/>
          <p:nvPr/>
        </p:nvSpPr>
        <p:spPr>
          <a:xfrm>
            <a:off x="5349240" y="4242816"/>
            <a:ext cx="34290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Sprints, roles y patrones de diseño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22860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· Introducción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4114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Desafíos de la industria de moda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457200" y="1371600"/>
            <a:ext cx="411480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sistemas tradicionales de tallas no representan la diversidad real de cuerpos.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 clientes no pueden visualizar cómo quedarán las prendas antes de comprarlas.</a:t>
            </a:r>
            <a:endParaRPr lang="en-US" sz="1300" dirty="0"/>
          </a:p>
          <a:p>
            <a:pPr marL="342900" indent="-342900">
              <a:spcAft>
                <a:spcPts val="800"/>
              </a:spcAft>
              <a:buSzPct val="100000"/>
              <a:buChar char="•"/>
            </a:pPr>
            <a:r>
              <a:rPr lang="en-US" sz="13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Esto genera devoluciones, pérdidas económicas y desconfianza en compras digitales.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46320" y="822960"/>
            <a:ext cx="3931920" cy="3657600"/>
          </a:xfrm>
          <a:prstGeom prst="rect">
            <a:avLst/>
          </a:prstGeom>
          <a:solidFill>
            <a:srgbClr val="1A3A5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8" name="Text 6"/>
          <p:cNvSpPr/>
          <p:nvPr/>
        </p:nvSpPr>
        <p:spPr>
          <a:xfrm>
            <a:off x="4846320" y="822960"/>
            <a:ext cx="3931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Nuestra Solución</a:t>
            </a:r>
            <a:endParaRPr lang="en-US" sz="1300" dirty="0"/>
          </a:p>
        </p:txBody>
      </p:sp>
      <p:pic>
        <p:nvPicPr>
          <p:cNvPr id="9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0" y="1417320"/>
            <a:ext cx="457200" cy="457200"/>
          </a:xfrm>
          <a:prstGeom prst="rect">
            <a:avLst/>
          </a:prstGeom>
        </p:spPr>
      </p:pic>
      <p:sp>
        <p:nvSpPr>
          <p:cNvPr id="10" name="Text 7"/>
          <p:cNvSpPr/>
          <p:nvPr/>
        </p:nvSpPr>
        <p:spPr>
          <a:xfrm>
            <a:off x="6492240" y="146304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Visualización 3D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5029200" y="1874520"/>
            <a:ext cx="3566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Modelos tridimensionales ajustados a las medidas del usuario.</a:t>
            </a:r>
            <a:endParaRPr lang="en-US" sz="1000" dirty="0"/>
          </a:p>
        </p:txBody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43600" y="2423160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6492240" y="246888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Inventario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5029200" y="288036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de productos, tallas y stock en tiempo real.</a:t>
            </a:r>
            <a:endParaRPr lang="en-US" sz="10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43600" y="3429000"/>
            <a:ext cx="457200" cy="457200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492240" y="3474720"/>
            <a:ext cx="21031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 Corporal</a:t>
            </a:r>
            <a:endParaRPr lang="en-US" sz="1200" dirty="0"/>
          </a:p>
        </p:txBody>
      </p:sp>
      <p:sp>
        <p:nvSpPr>
          <p:cNvPr id="17" name="Text 12"/>
          <p:cNvSpPr/>
          <p:nvPr/>
        </p:nvSpPr>
        <p:spPr>
          <a:xfrm>
            <a:off x="5029200" y="3886200"/>
            <a:ext cx="356616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Adaptación a todo tipo de cuerpo sin depender de estándares limitados.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0F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· Planteamiento del Problema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22960"/>
            <a:ext cx="8412480" cy="7772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457200" y="86868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mejorar la precisión en la selección de tallas mediante un aplicativo web con visualización 3D?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CAUSAS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2103120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Estandarización limitada de tallas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365760" y="2761488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65760" y="2761488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2" name="Text 10"/>
          <p:cNvSpPr/>
          <p:nvPr/>
        </p:nvSpPr>
        <p:spPr>
          <a:xfrm>
            <a:off x="548640" y="2807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herramientas de visualización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65760" y="3419856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3419856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34655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sistema interactivo de medidas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365760" y="4078224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365760" y="4078224"/>
            <a:ext cx="73152" cy="54864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18" name="Text 16"/>
          <p:cNvSpPr/>
          <p:nvPr/>
        </p:nvSpPr>
        <p:spPr>
          <a:xfrm>
            <a:off x="548640" y="41239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 app web integrada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4754880" y="1737360"/>
            <a:ext cx="41148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IMPACTOS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754880" y="2103120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754880" y="210312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4937760" y="2148840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Insatisfacción del cliente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754880" y="2761488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4754880" y="2761488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4937760" y="2807208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Incremento de devoluciones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754880" y="3419856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754880" y="3419856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4937760" y="3465576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Pérdidas económicas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754880" y="4078224"/>
            <a:ext cx="402336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4754880" y="4078224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4937760" y="4123944"/>
            <a:ext cx="3657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Freno al crecimiento digital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· Objetivos del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868680"/>
            <a:ext cx="8412480" cy="10515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548640" y="896112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spc="2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OBJETIVO GENERAL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48640" y="1188720"/>
            <a:ext cx="80467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Construir un sistema web que mejore el proceso de selección de tallas en jeans, integrando gestión de inventario y visualización de modelos 3D ajustados a las medidas corporales del usuario.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65760" y="2103120"/>
            <a:ext cx="4023360" cy="1188720"/>
          </a:xfrm>
          <a:prstGeom prst="rect">
            <a:avLst/>
          </a:prstGeom>
          <a:solidFill>
            <a:srgbClr val="1A3A5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212848"/>
            <a:ext cx="457200" cy="45720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97280" y="2212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 de información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502920" y="2761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Técnicas adecuadas para identificar requisitos del sistema.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365760" y="3474720"/>
            <a:ext cx="4023360" cy="1188720"/>
          </a:xfrm>
          <a:prstGeom prst="rect">
            <a:avLst/>
          </a:prstGeom>
          <a:solidFill>
            <a:srgbClr val="1A3A5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584448"/>
            <a:ext cx="457200" cy="45720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097280" y="3584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 y diseño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02920" y="41330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Arquitectura, BD e interfaz del aplicativo web.</a:t>
            </a:r>
            <a:endParaRPr lang="en-US" sz="1000" dirty="0"/>
          </a:p>
        </p:txBody>
      </p:sp>
      <p:sp>
        <p:nvSpPr>
          <p:cNvPr id="15" name="Shape 11"/>
          <p:cNvSpPr/>
          <p:nvPr/>
        </p:nvSpPr>
        <p:spPr>
          <a:xfrm>
            <a:off x="4754880" y="2103120"/>
            <a:ext cx="4023360" cy="1188720"/>
          </a:xfrm>
          <a:prstGeom prst="rect">
            <a:avLst/>
          </a:prstGeom>
          <a:solidFill>
            <a:srgbClr val="1A3A5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2040" y="2212848"/>
            <a:ext cx="457200" cy="45720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86400" y="22128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Construcción del sistema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92040" y="27614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 de gestión de productos, tallas, inventario y 3D.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4754880" y="3474720"/>
            <a:ext cx="4023360" cy="1188720"/>
          </a:xfrm>
          <a:prstGeom prst="rect">
            <a:avLst/>
          </a:prstGeom>
          <a:solidFill>
            <a:srgbClr val="1A3A5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92040" y="3584448"/>
            <a:ext cx="457200" cy="45720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86400" y="358444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 web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4892040" y="4133088"/>
            <a:ext cx="3749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 funcional, accesible y adaptado a la empresa.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0F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Viabilidad del Proyecto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365760" y="914400"/>
            <a:ext cx="2743200" cy="640080"/>
          </a:xfrm>
          <a:prstGeom prst="rect">
            <a:avLst/>
          </a:prstGeom>
          <a:solidFill>
            <a:srgbClr val="0891B2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00584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Técnica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502920" y="164592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Computador Lenovo i5/i7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+ MySQL disponible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Three.js para 3D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Code + Framework Web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 Mbps (Claro/Movistar)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329184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291840" y="914400"/>
            <a:ext cx="2743200" cy="640080"/>
          </a:xfrm>
          <a:prstGeom prst="rect">
            <a:avLst/>
          </a:prstGeom>
          <a:solidFill>
            <a:srgbClr val="1A3A5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100584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88620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Operativa</a:t>
            </a:r>
            <a:endParaRPr lang="en-US" sz="1500" dirty="0"/>
          </a:p>
        </p:txBody>
      </p:sp>
      <p:sp>
        <p:nvSpPr>
          <p:cNvPr id="13" name="Text 9"/>
          <p:cNvSpPr/>
          <p:nvPr/>
        </p:nvSpPr>
        <p:spPr>
          <a:xfrm>
            <a:off x="3429000" y="164592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Administrador capacitado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Clientes con acceso web básico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Baja resistencia al cambio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 TI disponible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Interfaz fácil de usar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6217920" y="914400"/>
            <a:ext cx="2743200" cy="393192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914400"/>
            <a:ext cx="2743200" cy="640080"/>
          </a:xfrm>
          <a:prstGeom prst="rect">
            <a:avLst/>
          </a:prstGeom>
          <a:solidFill>
            <a:srgbClr val="0D1B2A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005840"/>
            <a:ext cx="411480" cy="41148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812280" y="1005840"/>
            <a:ext cx="20574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Económica</a:t>
            </a:r>
            <a:endParaRPr lang="en-US" sz="1500" dirty="0"/>
          </a:p>
        </p:txBody>
      </p:sp>
      <p:sp>
        <p:nvSpPr>
          <p:cNvPr id="18" name="Text 13"/>
          <p:cNvSpPr/>
          <p:nvPr/>
        </p:nvSpPr>
        <p:spPr>
          <a:xfrm>
            <a:off x="6355080" y="1645920"/>
            <a:ext cx="25146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Desarrollo: $3.266.000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Implementación: $1.046.500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Hosting anual: $120.000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Dominio: $50.000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estimado: ~$4.5M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F59E0B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· Matriz de Riesgos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914400"/>
          <a:ext cx="8412480" cy="3931920"/>
        </p:xfrm>
        <a:graphic>
          <a:graphicData uri="http://schemas.openxmlformats.org/drawingml/2006/table">
            <a:tbl>
              <a:tblPr/>
              <a:tblGrid>
                <a:gridCol w="1828800"/>
                <a:gridCol w="731520"/>
                <a:gridCol w="822960"/>
                <a:gridCol w="914400"/>
                <a:gridCol w="4114800"/>
              </a:tblGrid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Riesgo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Prob.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Prioridad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Mitigación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A3A5C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Módulo 3D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base + capacitación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Integración Three.js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constantes / alternativa 2D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Bajo rendimiento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Modelos .glb livianos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Falta de tiempo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Cronograma + reducir funcionalidades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Base de datos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F1D1D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Modelo relacional revisado + backups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  <a:tr h="561703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Compatibilidad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F59E0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8350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CBD5E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Pruebas multi-dispositivo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1A3A5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1B2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0F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Análisis de Situación Actual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Procesos Clave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65760" y="1280160"/>
            <a:ext cx="4023360" cy="20116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🛒 Venta de productos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📐 Gestión de tallas 3D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📦 Gestión de inventario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🎧 Atención al cliente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4754880" y="868680"/>
            <a:ext cx="40233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Stakeholders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754880" y="1280160"/>
          <a:ext cx="4023360" cy="2286000"/>
        </p:xfrm>
        <a:graphic>
          <a:graphicData uri="http://schemas.openxmlformats.org/drawingml/2006/table">
            <a:tbl>
              <a:tblPr/>
              <a:tblGrid>
                <a:gridCol w="1645920"/>
                <a:gridCol w="1097280"/>
                <a:gridCol w="1280160"/>
              </a:tblGrid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Actor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Tipo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Influencia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891B2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Cliente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Administrador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Empresa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Desarrollador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Interno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  <a:tr h="38100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Proveedor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Externo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Baja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BD5E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0F2FE"/>
                    </a:solidFill>
                  </a:tcPr>
                </a:tc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365760" y="3383280"/>
            <a:ext cx="84124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Cronograma (6 meses)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365760" y="3840480"/>
            <a:ext cx="132588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365760" y="38404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M1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Levantamiento</a:t>
            </a:r>
            <a:endParaRPr lang="en-US" sz="850" dirty="0"/>
          </a:p>
        </p:txBody>
      </p:sp>
      <p:sp>
        <p:nvSpPr>
          <p:cNvPr id="11" name="Shape 8"/>
          <p:cNvSpPr/>
          <p:nvPr/>
        </p:nvSpPr>
        <p:spPr>
          <a:xfrm>
            <a:off x="1783080" y="3840480"/>
            <a:ext cx="1325880" cy="82296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9"/>
          <p:cNvSpPr/>
          <p:nvPr/>
        </p:nvSpPr>
        <p:spPr>
          <a:xfrm>
            <a:off x="1783080" y="38404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M2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Análisis/Diseño</a:t>
            </a:r>
            <a:endParaRPr lang="en-US" sz="850" dirty="0"/>
          </a:p>
        </p:txBody>
      </p:sp>
      <p:sp>
        <p:nvSpPr>
          <p:cNvPr id="13" name="Shape 10"/>
          <p:cNvSpPr/>
          <p:nvPr/>
        </p:nvSpPr>
        <p:spPr>
          <a:xfrm>
            <a:off x="3200400" y="3840480"/>
            <a:ext cx="132588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3200400" y="38404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M3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Desarrollo Web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617720" y="3840480"/>
            <a:ext cx="1325880" cy="8229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3"/>
          <p:cNvSpPr/>
          <p:nvPr/>
        </p:nvSpPr>
        <p:spPr>
          <a:xfrm>
            <a:off x="4617720" y="38404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M4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Módulo 3D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35040" y="3840480"/>
            <a:ext cx="13258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6035040" y="38404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M5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Integración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7452360" y="3840480"/>
            <a:ext cx="1325880" cy="82296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Text 17"/>
          <p:cNvSpPr/>
          <p:nvPr/>
        </p:nvSpPr>
        <p:spPr>
          <a:xfrm>
            <a:off x="7452360" y="3840480"/>
            <a:ext cx="13258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M6</a:t>
            </a:r>
            <a:endParaRPr lang="en-US" sz="850" dirty="0"/>
          </a:p>
          <a:p>
            <a:pPr algn="ctr" indent="0" marL="0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Pruebas/Impl.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· Requisitos del Sistema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FUNCIONALES – Alta Prioridad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365760" y="1234440"/>
            <a:ext cx="411480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RF01 Gestionar usuarios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RF03 Autenticación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RF04 Gestionar productos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RF06 Carrito de compras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RF07-08 Pedidos y Pagos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RF12 Gestión inventario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RF15-16 Visualización 3D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RF21-24 Medidas corporales y ajuste 3D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4754880" y="868680"/>
            <a:ext cx="40233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FUNCIONALES</a:t>
            </a:r>
            <a:endParaRPr lang="en-US" sz="11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754880" y="1261872"/>
            <a:ext cx="320040" cy="32004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166360" y="126187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RNF01 Rendimiento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5166360" y="150876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Carga &lt;3s, búsqueda &lt;1s, 500 usuarios concurrentes</a:t>
            </a:r>
            <a:endParaRPr lang="en-US" sz="900" dirty="0"/>
          </a:p>
        </p:txBody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883664"/>
            <a:ext cx="320040" cy="320040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5166360" y="1883664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RNF02 Usabilidad</a:t>
            </a:r>
            <a:endParaRPr lang="en-US" sz="1100" dirty="0"/>
          </a:p>
        </p:txBody>
      </p:sp>
      <p:sp>
        <p:nvSpPr>
          <p:cNvPr id="12" name="Text 8"/>
          <p:cNvSpPr/>
          <p:nvPr/>
        </p:nvSpPr>
        <p:spPr>
          <a:xfrm>
            <a:off x="5166360" y="2130552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Navegación intuitiva, WCAG 2.1 AA</a:t>
            </a:r>
            <a:endParaRPr lang="en-US" sz="900" dirty="0"/>
          </a:p>
        </p:txBody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880" y="2505456"/>
            <a:ext cx="320040" cy="32004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166360" y="2505456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RNF03 Seguridad</a:t>
            </a:r>
            <a:endParaRPr lang="en-US" sz="1100" dirty="0"/>
          </a:p>
        </p:txBody>
      </p:sp>
      <p:sp>
        <p:nvSpPr>
          <p:cNvPr id="15" name="Text 10"/>
          <p:cNvSpPr/>
          <p:nvPr/>
        </p:nvSpPr>
        <p:spPr>
          <a:xfrm>
            <a:off x="5166360" y="2752344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HTTPS/SSL, JWT, cifrado de datos</a:t>
            </a:r>
            <a:endParaRPr lang="en-US" sz="900" dirty="0"/>
          </a:p>
        </p:txBody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54880" y="3127248"/>
            <a:ext cx="320040" cy="32004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166360" y="3127248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RNF04 Disponibilidad</a:t>
            </a:r>
            <a:endParaRPr lang="en-US" sz="1100" dirty="0"/>
          </a:p>
        </p:txBody>
      </p:sp>
      <p:sp>
        <p:nvSpPr>
          <p:cNvPr id="18" name="Text 12"/>
          <p:cNvSpPr/>
          <p:nvPr/>
        </p:nvSpPr>
        <p:spPr>
          <a:xfrm>
            <a:off x="5166360" y="3374136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99.9% uptime, backups diarios</a:t>
            </a:r>
            <a:endParaRPr lang="en-US" sz="9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4880" y="3749040"/>
            <a:ext cx="320040" cy="320040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5166360" y="3749040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RNF05 Compatibilidad</a:t>
            </a:r>
            <a:endParaRPr lang="en-US" sz="1100" dirty="0"/>
          </a:p>
        </p:txBody>
      </p:sp>
      <p:sp>
        <p:nvSpPr>
          <p:cNvPr id="21" name="Text 14"/>
          <p:cNvSpPr/>
          <p:nvPr/>
        </p:nvSpPr>
        <p:spPr>
          <a:xfrm>
            <a:off x="5166360" y="3995928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Chrome, Firefox, Edge + Responsive</a:t>
            </a:r>
            <a:endParaRPr lang="en-US" sz="900" dirty="0"/>
          </a:p>
        </p:txBody>
      </p:sp>
      <p:pic>
        <p:nvPicPr>
          <p:cNvPr id="22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754880" y="4370832"/>
            <a:ext cx="320040" cy="320040"/>
          </a:xfrm>
          <a:prstGeom prst="rect">
            <a:avLst/>
          </a:prstGeom>
        </p:spPr>
      </p:pic>
      <p:sp>
        <p:nvSpPr>
          <p:cNvPr id="23" name="Text 15"/>
          <p:cNvSpPr/>
          <p:nvPr/>
        </p:nvSpPr>
        <p:spPr>
          <a:xfrm>
            <a:off x="5166360" y="4370832"/>
            <a:ext cx="34747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RNF06 Mantenibilidad</a:t>
            </a:r>
            <a:endParaRPr lang="en-US" sz="1100" dirty="0"/>
          </a:p>
        </p:txBody>
      </p:sp>
      <p:sp>
        <p:nvSpPr>
          <p:cNvPr id="24" name="Text 16"/>
          <p:cNvSpPr/>
          <p:nvPr/>
        </p:nvSpPr>
        <p:spPr>
          <a:xfrm>
            <a:off x="5166360" y="4617720"/>
            <a:ext cx="34747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Código modular y documentado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0F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· Diagramas y Arquitectura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68680"/>
            <a:ext cx="3931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 de 3 Capas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365760" y="1325880"/>
            <a:ext cx="3931920" cy="1005840"/>
          </a:xfrm>
          <a:prstGeom prst="rect">
            <a:avLst/>
          </a:prstGeom>
          <a:solidFill>
            <a:srgbClr val="0891B2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02920" y="1371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1 – Presentación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02920" y="1691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Navegador web (Chrome/Edge/Firefox)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Responsive Design · WCAG 2.1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365760" y="2468880"/>
            <a:ext cx="3931920" cy="100584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502920" y="2514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2 – Seguridad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502920" y="2834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SSL/HTTPS · JWT/Sesiones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Validación de datos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365760" y="3611880"/>
            <a:ext cx="3931920" cy="1005840"/>
          </a:xfrm>
          <a:prstGeom prst="rect">
            <a:avLst/>
          </a:prstGeom>
          <a:solidFill>
            <a:srgbClr val="0D1B2A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502920" y="36576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 3 – Lógica/Backend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02920" y="3977640"/>
            <a:ext cx="3657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REST · Módulo 3D (Three.js)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Lógica de negocio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63440" y="868680"/>
            <a:ext cx="4114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Entregables de Diseño</a:t>
            </a:r>
            <a:endParaRPr lang="en-US" sz="1400" dirty="0"/>
          </a:p>
        </p:txBody>
      </p:sp>
      <p:pic>
        <p:nvPicPr>
          <p:cNvPr id="1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63440" y="1325880"/>
            <a:ext cx="347472" cy="347472"/>
          </a:xfrm>
          <a:prstGeom prst="rect">
            <a:avLst/>
          </a:prstGeom>
        </p:spPr>
      </p:pic>
      <p:sp>
        <p:nvSpPr>
          <p:cNvPr id="16" name="Text 13"/>
          <p:cNvSpPr/>
          <p:nvPr/>
        </p:nvSpPr>
        <p:spPr>
          <a:xfrm>
            <a:off x="5120640" y="13258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Clases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5120640" y="160020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clases: Usuario, Producto, Carrito, Pedido, Modelo3D, Visor3D…</a:t>
            </a:r>
            <a:endParaRPr lang="en-US" sz="950" dirty="0"/>
          </a:p>
        </p:txBody>
      </p:sp>
      <p:pic>
        <p:nvPicPr>
          <p:cNvPr id="1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63440" y="2075688"/>
            <a:ext cx="347472" cy="347472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5120640" y="2075688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Casos de Uso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5120640" y="2350008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Actores: Cliente y Administrador con 14 casos de uso</a:t>
            </a:r>
            <a:endParaRPr lang="en-US" sz="950" dirty="0"/>
          </a:p>
        </p:txBody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63440" y="2825496"/>
            <a:ext cx="347472" cy="347472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5120640" y="2825496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MER</a:t>
            </a:r>
            <a:endParaRPr lang="en-US" sz="1200" dirty="0"/>
          </a:p>
        </p:txBody>
      </p:sp>
      <p:sp>
        <p:nvSpPr>
          <p:cNvPr id="23" name="Text 18"/>
          <p:cNvSpPr/>
          <p:nvPr/>
        </p:nvSpPr>
        <p:spPr>
          <a:xfrm>
            <a:off x="5120640" y="3099816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Entidades relacionales para toda la BD del sistema</a:t>
            </a:r>
            <a:endParaRPr lang="en-US" sz="950" dirty="0"/>
          </a:p>
        </p:txBody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63440" y="3575304"/>
            <a:ext cx="347472" cy="347472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5120640" y="3575304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Actividades</a:t>
            </a:r>
            <a:endParaRPr lang="en-US" sz="1200" dirty="0"/>
          </a:p>
        </p:txBody>
      </p:sp>
      <p:sp>
        <p:nvSpPr>
          <p:cNvPr id="26" name="Text 20"/>
          <p:cNvSpPr/>
          <p:nvPr/>
        </p:nvSpPr>
        <p:spPr>
          <a:xfrm>
            <a:off x="5120640" y="3849624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Flujos: Venta, Tallas 3D, Inventario, Atención al cliente</a:t>
            </a:r>
            <a:endParaRPr lang="en-US" sz="950" dirty="0"/>
          </a:p>
        </p:txBody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3440" y="4325112"/>
            <a:ext cx="347472" cy="347472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5120640" y="4325112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Diagrama de Procesos</a:t>
            </a:r>
            <a:endParaRPr lang="en-US" sz="1200" dirty="0"/>
          </a:p>
        </p:txBody>
      </p:sp>
      <p:sp>
        <p:nvSpPr>
          <p:cNvPr id="29" name="Text 22"/>
          <p:cNvSpPr/>
          <p:nvPr/>
        </p:nvSpPr>
        <p:spPr>
          <a:xfrm>
            <a:off x="5120640" y="4599432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Flujo completo: registro → 3D → carrito → pedido → notificación</a:t>
            </a:r>
            <a:endParaRPr lang="en-US" sz="9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· Identidad Corporativa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572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BRUMAM&amp;GOTXXO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365760" y="1508760"/>
            <a:ext cx="4572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 · Moda · Personalización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365760" y="196596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Valores de Marca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65760" y="2377440"/>
            <a:ext cx="749808" cy="5943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65760" y="237744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Innovación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1207008" y="2377440"/>
            <a:ext cx="749808" cy="5943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1207008" y="237744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Inclusión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2048256" y="2377440"/>
            <a:ext cx="749808" cy="5943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2048256" y="237744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Calidad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2889504" y="2377440"/>
            <a:ext cx="749808" cy="5943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2889504" y="237744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Confianza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3730752" y="2377440"/>
            <a:ext cx="749808" cy="594360"/>
          </a:xfrm>
          <a:prstGeom prst="rect">
            <a:avLst/>
          </a:prstGeom>
          <a:solidFill>
            <a:srgbClr val="1A3A5C"/>
          </a:solidFill>
          <a:ln/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3730752" y="2377440"/>
            <a:ext cx="749808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Sostenibilidad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65760" y="3154680"/>
            <a:ext cx="43891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Paleta de Colores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365760" y="3566160"/>
            <a:ext cx="685800" cy="502920"/>
          </a:xfrm>
          <a:prstGeom prst="rect">
            <a:avLst/>
          </a:prstGeom>
          <a:solidFill>
            <a:srgbClr val="0D1B2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365760" y="40965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Azul marino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Fondo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1234440" y="3566160"/>
            <a:ext cx="685800" cy="502920"/>
          </a:xfrm>
          <a:prstGeom prst="rect">
            <a:avLst/>
          </a:prstGeom>
          <a:solidFill>
            <a:srgbClr val="0891B2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234440" y="40965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Teal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Tecnología</a:t>
            </a:r>
            <a:endParaRPr lang="en-US" sz="750" dirty="0"/>
          </a:p>
        </p:txBody>
      </p:sp>
      <p:sp>
        <p:nvSpPr>
          <p:cNvPr id="22" name="Shape 20"/>
          <p:cNvSpPr/>
          <p:nvPr/>
        </p:nvSpPr>
        <p:spPr>
          <a:xfrm>
            <a:off x="2103120" y="3566160"/>
            <a:ext cx="685800" cy="502920"/>
          </a:xfrm>
          <a:prstGeom prst="rect">
            <a:avLst/>
          </a:prstGeom>
          <a:solidFill>
            <a:srgbClr val="FFFFFF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2103120" y="40965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Blanco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Simplicidad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2971800" y="3566160"/>
            <a:ext cx="685800" cy="502920"/>
          </a:xfrm>
          <a:prstGeom prst="rect">
            <a:avLst/>
          </a:prstGeom>
          <a:solidFill>
            <a:srgbClr val="1A1A1A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2971800" y="40965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Negro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Elegancia</a:t>
            </a:r>
            <a:endParaRPr lang="en-US" sz="750" dirty="0"/>
          </a:p>
        </p:txBody>
      </p:sp>
      <p:sp>
        <p:nvSpPr>
          <p:cNvPr id="26" name="Shape 24"/>
          <p:cNvSpPr/>
          <p:nvPr/>
        </p:nvSpPr>
        <p:spPr>
          <a:xfrm>
            <a:off x="3840480" y="3566160"/>
            <a:ext cx="685800" cy="502920"/>
          </a:xfrm>
          <a:prstGeom prst="rect">
            <a:avLst/>
          </a:prstGeom>
          <a:solidFill>
            <a:srgbClr val="F59E0B"/>
          </a:solidFill>
          <a:ln w="3810">
            <a:solidFill>
              <a:srgbClr val="CBD5E1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3840480" y="4096512"/>
            <a:ext cx="685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Dorado</a:t>
            </a:r>
            <a:endParaRPr lang="en-US" sz="750" dirty="0"/>
          </a:p>
          <a:p>
            <a:pPr algn="ctr" indent="0" marL="0">
              <a:buNone/>
            </a:pPr>
            <a:r>
              <a:rPr lang="en-US" sz="7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Énfasis</a:t>
            </a:r>
            <a:endParaRPr lang="en-US" sz="750" dirty="0"/>
          </a:p>
        </p:txBody>
      </p:sp>
      <p:sp>
        <p:nvSpPr>
          <p:cNvPr id="28" name="Shape 26"/>
          <p:cNvSpPr/>
          <p:nvPr/>
        </p:nvSpPr>
        <p:spPr>
          <a:xfrm>
            <a:off x="5029200" y="822960"/>
            <a:ext cx="3749040" cy="4023360"/>
          </a:xfrm>
          <a:prstGeom prst="rect">
            <a:avLst/>
          </a:prstGeom>
          <a:solidFill>
            <a:srgbClr val="1A3A5C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5029200" y="822960"/>
            <a:ext cx="3749040" cy="41148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0" name="Text 28"/>
          <p:cNvSpPr/>
          <p:nvPr/>
        </p:nvSpPr>
        <p:spPr>
          <a:xfrm>
            <a:off x="5029200" y="822960"/>
            <a:ext cx="37490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Identidad Visual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5212080" y="13716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Tipografía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5212080" y="1645920"/>
            <a:ext cx="33832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Títulos: Montserrat / Poppins (bold)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Cuerpo: Roboto / Open Sans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212080" y="228600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59E0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Público Objetivo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12080" y="2606040"/>
            <a:ext cx="338328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Jóvenes 18–35 años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Compradores digitales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Interesados en moda + tecnología</a:t>
            </a:r>
            <a:endParaRPr lang="en-US" sz="10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0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Personas que buscan ajuste perfecto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5212080" y="4023360"/>
            <a:ext cx="3383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Aplicaciones de Marca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5212080" y="4297680"/>
            <a:ext cx="33832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Etiquetas · Bolsas · Empaques · Web</a:t>
            </a:r>
            <a:endParaRPr lang="en-US" sz="9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E0F2F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4008" cy="514350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8288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· Metodología SCRUM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65760" y="822960"/>
            <a:ext cx="40233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Roles SCRUM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65760" y="1234440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65760" y="1234440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7" name="Text 5"/>
          <p:cNvSpPr/>
          <p:nvPr/>
        </p:nvSpPr>
        <p:spPr>
          <a:xfrm>
            <a:off x="548640" y="1261872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Owner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48640" y="1508760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 David Pérez – Define requisitos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65760" y="1892808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65760" y="1892808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1920240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Scrum Master</a:t>
            </a:r>
            <a:endParaRPr lang="en-US" sz="1200" dirty="0"/>
          </a:p>
        </p:txBody>
      </p:sp>
      <p:sp>
        <p:nvSpPr>
          <p:cNvPr id="12" name="Text 10"/>
          <p:cNvSpPr/>
          <p:nvPr/>
        </p:nvSpPr>
        <p:spPr>
          <a:xfrm>
            <a:off x="548640" y="2167128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Estefanía Zea – Organiza el proceso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65760" y="2551176"/>
            <a:ext cx="3931920" cy="548640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65760" y="2551176"/>
            <a:ext cx="73152" cy="5486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5" name="Text 13"/>
          <p:cNvSpPr/>
          <p:nvPr/>
        </p:nvSpPr>
        <p:spPr>
          <a:xfrm>
            <a:off x="548640" y="2578608"/>
            <a:ext cx="3657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Team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2825496"/>
            <a:ext cx="36576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Juan, Estefanía, Marcela, Keiver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365760" y="3291840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Sprints del Proyecto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365760" y="3703320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19" name="Text 17"/>
          <p:cNvSpPr/>
          <p:nvPr/>
        </p:nvSpPr>
        <p:spPr>
          <a:xfrm>
            <a:off x="365760" y="370332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S1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86868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Registro + Login + BD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4142232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2" name="Text 20"/>
          <p:cNvSpPr/>
          <p:nvPr/>
        </p:nvSpPr>
        <p:spPr>
          <a:xfrm>
            <a:off x="365760" y="414223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S2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868680" y="4187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Productos + Inventario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365760" y="4581144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5" name="Text 23"/>
          <p:cNvSpPr/>
          <p:nvPr/>
        </p:nvSpPr>
        <p:spPr>
          <a:xfrm>
            <a:off x="365760" y="458114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S3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868680" y="46268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Medidas + Validaciones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468880" y="3703320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28" name="Text 26"/>
          <p:cNvSpPr/>
          <p:nvPr/>
        </p:nvSpPr>
        <p:spPr>
          <a:xfrm>
            <a:off x="2468880" y="3703320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S4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2971800" y="3749040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3D básico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2468880" y="4142232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1" name="Text 29"/>
          <p:cNvSpPr/>
          <p:nvPr/>
        </p:nvSpPr>
        <p:spPr>
          <a:xfrm>
            <a:off x="2468880" y="4142232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S5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2971800" y="4187952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Ajuste dinámico 3D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2468880" y="4581144"/>
            <a:ext cx="438912" cy="347472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34" name="Text 32"/>
          <p:cNvSpPr/>
          <p:nvPr/>
        </p:nvSpPr>
        <p:spPr>
          <a:xfrm>
            <a:off x="2468880" y="4581144"/>
            <a:ext cx="438912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S6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2971800" y="4626864"/>
            <a:ext cx="1554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Pruebas + Optimización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663440" y="822960"/>
            <a:ext cx="41148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Patrones de Diseño Aplicados</a:t>
            </a:r>
            <a:endParaRPr lang="en-US" sz="1300" dirty="0"/>
          </a:p>
        </p:txBody>
      </p:sp>
      <p:sp>
        <p:nvSpPr>
          <p:cNvPr id="37" name="Shape 35"/>
          <p:cNvSpPr/>
          <p:nvPr/>
        </p:nvSpPr>
        <p:spPr>
          <a:xfrm>
            <a:off x="4663440" y="123444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Shape 36"/>
          <p:cNvSpPr/>
          <p:nvPr/>
        </p:nvSpPr>
        <p:spPr>
          <a:xfrm>
            <a:off x="4663440" y="1234440"/>
            <a:ext cx="73152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39" name="Text 37"/>
          <p:cNvSpPr/>
          <p:nvPr/>
        </p:nvSpPr>
        <p:spPr>
          <a:xfrm>
            <a:off x="4846320" y="126187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MVC</a:t>
            </a:r>
            <a:endParaRPr lang="en-US" sz="1100" dirty="0"/>
          </a:p>
        </p:txBody>
      </p:sp>
      <p:sp>
        <p:nvSpPr>
          <p:cNvPr id="40" name="Text 38"/>
          <p:cNvSpPr/>
          <p:nvPr/>
        </p:nvSpPr>
        <p:spPr>
          <a:xfrm>
            <a:off x="4846320" y="149961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Separa vista, lógica y datos. Permite trabajo paralelo en sprints.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663440" y="1856232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2" name="Shape 40"/>
          <p:cNvSpPr/>
          <p:nvPr/>
        </p:nvSpPr>
        <p:spPr>
          <a:xfrm>
            <a:off x="4663440" y="1856232"/>
            <a:ext cx="73152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3" name="Text 41"/>
          <p:cNvSpPr/>
          <p:nvPr/>
        </p:nvSpPr>
        <p:spPr>
          <a:xfrm>
            <a:off x="4846320" y="1883664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Repository</a:t>
            </a:r>
            <a:endParaRPr lang="en-US" sz="1100" dirty="0"/>
          </a:p>
        </p:txBody>
      </p:sp>
      <p:sp>
        <p:nvSpPr>
          <p:cNvPr id="44" name="Text 42"/>
          <p:cNvSpPr/>
          <p:nvPr/>
        </p:nvSpPr>
        <p:spPr>
          <a:xfrm>
            <a:off x="4846320" y="2121408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Optimiza acceso a datos y mejora mantenibilidad.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4663440" y="2478024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6" name="Shape 44"/>
          <p:cNvSpPr/>
          <p:nvPr/>
        </p:nvSpPr>
        <p:spPr>
          <a:xfrm>
            <a:off x="4663440" y="2478024"/>
            <a:ext cx="73152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47" name="Text 45"/>
          <p:cNvSpPr/>
          <p:nvPr/>
        </p:nvSpPr>
        <p:spPr>
          <a:xfrm>
            <a:off x="4846320" y="2505456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Strategy</a:t>
            </a:r>
            <a:endParaRPr lang="en-US" sz="1100" dirty="0"/>
          </a:p>
        </p:txBody>
      </p:sp>
      <p:sp>
        <p:nvSpPr>
          <p:cNvPr id="48" name="Text 46"/>
          <p:cNvSpPr/>
          <p:nvPr/>
        </p:nvSpPr>
        <p:spPr>
          <a:xfrm>
            <a:off x="4846320" y="2743200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Diferentes algoritmos de cálculo de tallas sin afectar estructura.</a:t>
            </a:r>
            <a:endParaRPr lang="en-US" sz="850" dirty="0"/>
          </a:p>
        </p:txBody>
      </p:sp>
      <p:sp>
        <p:nvSpPr>
          <p:cNvPr id="49" name="Shape 47"/>
          <p:cNvSpPr/>
          <p:nvPr/>
        </p:nvSpPr>
        <p:spPr>
          <a:xfrm>
            <a:off x="4663440" y="3099816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0" name="Shape 48"/>
          <p:cNvSpPr/>
          <p:nvPr/>
        </p:nvSpPr>
        <p:spPr>
          <a:xfrm>
            <a:off x="4663440" y="3099816"/>
            <a:ext cx="73152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1" name="Text 49"/>
          <p:cNvSpPr/>
          <p:nvPr/>
        </p:nvSpPr>
        <p:spPr>
          <a:xfrm>
            <a:off x="4846320" y="3127248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Observer</a:t>
            </a:r>
            <a:endParaRPr lang="en-US" sz="1100" dirty="0"/>
          </a:p>
        </p:txBody>
      </p:sp>
      <p:sp>
        <p:nvSpPr>
          <p:cNvPr id="52" name="Text 50"/>
          <p:cNvSpPr/>
          <p:nvPr/>
        </p:nvSpPr>
        <p:spPr>
          <a:xfrm>
            <a:off x="4846320" y="3364992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de eventos: actualizaciones de inventario y notificaciones.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663440" y="3721608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4" name="Shape 52"/>
          <p:cNvSpPr/>
          <p:nvPr/>
        </p:nvSpPr>
        <p:spPr>
          <a:xfrm>
            <a:off x="4663440" y="3721608"/>
            <a:ext cx="73152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5" name="Text 53"/>
          <p:cNvSpPr/>
          <p:nvPr/>
        </p:nvSpPr>
        <p:spPr>
          <a:xfrm>
            <a:off x="4846320" y="3749040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Factory</a:t>
            </a:r>
            <a:endParaRPr lang="en-US" sz="1100" dirty="0"/>
          </a:p>
        </p:txBody>
      </p:sp>
      <p:sp>
        <p:nvSpPr>
          <p:cNvPr id="56" name="Text 54"/>
          <p:cNvSpPr/>
          <p:nvPr/>
        </p:nvSpPr>
        <p:spPr>
          <a:xfrm>
            <a:off x="4846320" y="3986784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Creación de modelos 3D según tipo de usuario.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663440" y="4343400"/>
            <a:ext cx="4114800" cy="530352"/>
          </a:xfrm>
          <a:prstGeom prst="rect">
            <a:avLst/>
          </a:prstGeom>
          <a:solidFill>
            <a:srgbClr val="FFFFFF"/>
          </a:solidFill>
          <a:ln w="6350">
            <a:solidFill>
              <a:srgbClr val="CBD5E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8" name="Shape 56"/>
          <p:cNvSpPr/>
          <p:nvPr/>
        </p:nvSpPr>
        <p:spPr>
          <a:xfrm>
            <a:off x="4663440" y="4343400"/>
            <a:ext cx="73152" cy="530352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9" name="Text 57"/>
          <p:cNvSpPr/>
          <p:nvPr/>
        </p:nvSpPr>
        <p:spPr>
          <a:xfrm>
            <a:off x="4846320" y="4370832"/>
            <a:ext cx="10972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Singleton</a:t>
            </a:r>
            <a:endParaRPr lang="en-US" sz="1100" dirty="0"/>
          </a:p>
        </p:txBody>
      </p:sp>
      <p:sp>
        <p:nvSpPr>
          <p:cNvPr id="60" name="Text 58"/>
          <p:cNvSpPr/>
          <p:nvPr/>
        </p:nvSpPr>
        <p:spPr>
          <a:xfrm>
            <a:off x="4846320" y="4608576"/>
            <a:ext cx="3749040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Gestión eficiente de la conexión a la base de datos.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D1B2A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891B2"/>
          </a:solidFill>
          <a:ln/>
        </p:spPr>
      </p:sp>
      <p:sp>
        <p:nvSpPr>
          <p:cNvPr id="4" name="Shape 2"/>
          <p:cNvSpPr/>
          <p:nvPr/>
        </p:nvSpPr>
        <p:spPr>
          <a:xfrm>
            <a:off x="0" y="4297680"/>
            <a:ext cx="9144000" cy="845820"/>
          </a:xfrm>
          <a:prstGeom prst="rect">
            <a:avLst/>
          </a:prstGeom>
          <a:solidFill>
            <a:srgbClr val="1A3A5C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137160"/>
            <a:ext cx="82296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¡Gracias por su atención!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457200" y="11887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000" b="1" spc="3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BRUMAM&amp;GOTXXO</a:t>
            </a:r>
            <a:endParaRPr lang="en-US" sz="5000" dirty="0"/>
          </a:p>
        </p:txBody>
      </p:sp>
      <p:sp>
        <p:nvSpPr>
          <p:cNvPr id="7" name="Text 5"/>
          <p:cNvSpPr/>
          <p:nvPr/>
        </p:nvSpPr>
        <p:spPr>
          <a:xfrm>
            <a:off x="457200" y="21945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i="1" dirty="0">
                <a:solidFill>
                  <a:srgbClr val="0891B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 paso hacia la moda digital personalizada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457200" y="2743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✅ Reduce devoluciones   ·   ✅ Mejora experiencia de compra   ·   ✅ Promueve inclusión corporal   ·   ✅ Digitaliza el proceso de venta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43434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Estefanía Zea  ·  Marcela Hoyos  ·  Juan David Pérez  ·  Keiver Rumbo</a:t>
            </a:r>
            <a:endParaRPr lang="en-US" sz="1000" dirty="0"/>
          </a:p>
          <a:p>
            <a:pPr algn="ctr" indent="0" marL="0">
              <a:buNone/>
            </a:pPr>
            <a:r>
              <a:rPr lang="en-US" sz="10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Docente: Andrés Chávez  |  SENA – Centro de Manufactura Textil y Cuero  |  2026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BRUMAM&amp;GOTXXO – Proyecto Final</dc:title>
  <dc:subject>PptxGenJS Presentation</dc:subject>
  <dc:creator>PptxGenJS</dc:creator>
  <cp:lastModifiedBy>PptxGenJS</cp:lastModifiedBy>
  <cp:revision>1</cp:revision>
  <dcterms:created xsi:type="dcterms:W3CDTF">2026-04-09T13:25:00Z</dcterms:created>
  <dcterms:modified xsi:type="dcterms:W3CDTF">2026-04-09T13:25:00Z</dcterms:modified>
</cp:coreProperties>
</file>